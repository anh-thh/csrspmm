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Gill San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81678D-FBA7-418A-AD46-390E0FA3FDB1}">
  <a:tblStyle styleId="{D681678D-FBA7-418A-AD46-390E0FA3FD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ill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788e9fc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788e9f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91788e9fcc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1788e9fcc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1788e9fc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1788e9fcc_1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1788e9fc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91788e9fcc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1788e9fc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91788e9fcc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1788e9fc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91788e9fcc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e65cac0a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ae65cac0ac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65cac0a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ae65cac0a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1788e9fc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91788e9fc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1788e9f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91788e9fcc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1788e9f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91788e9fcc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1788e9fc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91788e9fcc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1788e9fc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91788e9fcc_2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e65cac0a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ae65cac0a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ecb754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aecb7542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">
  <p:cSld name="1_Divider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2-line-whitetext-colorshield.png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5599" y="4296762"/>
            <a:ext cx="1769927" cy="6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9000"/>
          </a:blip>
          <a:srcRect b="0" l="0" r="0" t="0"/>
          <a:stretch/>
        </p:blipFill>
        <p:spPr>
          <a:xfrm>
            <a:off x="199388" y="151675"/>
            <a:ext cx="3080816" cy="34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21" name="Google Shape;21;p2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22" name="Google Shape;22;p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" name="Google Shape;28;p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9" name="Google Shape;29;p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457200" y="1104904"/>
            <a:ext cx="8082552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rgbClr val="D7D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" name="Google Shape;38;p4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39" name="Google Shape;39;p4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1-line-bluetext-colorshield.png" id="42" name="Google Shape;4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48" name="Google Shape;48;p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line-bluetext-colorshield.png" id="52" name="Google Shape;52;p6"/>
          <p:cNvPicPr preferRelativeResize="0"/>
          <p:nvPr/>
        </p:nvPicPr>
        <p:blipFill rotWithShape="1">
          <a:blip r:embed="rId2">
            <a:alphaModFix/>
          </a:blip>
          <a:srcRect b="-1906" l="-1" r="-156" t="0"/>
          <a:stretch/>
        </p:blipFill>
        <p:spPr>
          <a:xfrm>
            <a:off x="6585599" y="4296761"/>
            <a:ext cx="1769927" cy="656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ennwatermark.pdf" id="53" name="Google Shape;53;p6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199388" y="136510"/>
            <a:ext cx="3080816" cy="34728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958151" y="3255792"/>
            <a:ext cx="7397039" cy="65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56" name="Google Shape;56;p6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57" name="Google Shape;57;p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0" name="Google Shape;60;p6"/>
          <p:cNvSpPr/>
          <p:nvPr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62" name="Google Shape;62;p7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6156" cy="37459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67" name="Google Shape;67;p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8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8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8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77" name="Google Shape;77;p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81" name="Google Shape;81;p9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8896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" name="Google Shape;87;p9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88" name="Google Shape;88;p9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457200" y="1104904"/>
            <a:ext cx="4038600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p10"/>
          <p:cNvSpPr txBox="1"/>
          <p:nvPr>
            <p:ph idx="2" type="body"/>
          </p:nvPr>
        </p:nvSpPr>
        <p:spPr>
          <a:xfrm>
            <a:off x="4648200" y="1104902"/>
            <a:ext cx="4038600" cy="34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6" name="Google Shape;96;p10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97" name="Google Shape;97;p10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idx="1" type="body"/>
          </p:nvPr>
        </p:nvSpPr>
        <p:spPr>
          <a:xfrm>
            <a:off x="457200" y="1067992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1"/>
          <p:cNvSpPr txBox="1"/>
          <p:nvPr>
            <p:ph idx="2" type="body"/>
          </p:nvPr>
        </p:nvSpPr>
        <p:spPr>
          <a:xfrm>
            <a:off x="457200" y="1546495"/>
            <a:ext cx="4040188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11"/>
          <p:cNvSpPr txBox="1"/>
          <p:nvPr>
            <p:ph idx="3" type="body"/>
          </p:nvPr>
        </p:nvSpPr>
        <p:spPr>
          <a:xfrm>
            <a:off x="4645033" y="106666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1"/>
          <p:cNvSpPr txBox="1"/>
          <p:nvPr>
            <p:ph idx="4" type="body"/>
          </p:nvPr>
        </p:nvSpPr>
        <p:spPr>
          <a:xfrm>
            <a:off x="4645033" y="1546495"/>
            <a:ext cx="4041775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1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7" name="Google Shape;107;p11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8" name="Google Shape;108;p11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sidebar">
  <p:cSld name="Content and sideba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6142182" y="1782939"/>
            <a:ext cx="254462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body"/>
          </p:nvPr>
        </p:nvSpPr>
        <p:spPr>
          <a:xfrm>
            <a:off x="6142182" y="2310651"/>
            <a:ext cx="2544621" cy="2282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" name="Google Shape;116;p12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17" name="Google Shape;117;p1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20" name="Google Shape;120;p12"/>
          <p:cNvCxnSpPr/>
          <p:nvPr/>
        </p:nvCxnSpPr>
        <p:spPr>
          <a:xfrm>
            <a:off x="5908842" y="1099992"/>
            <a:ext cx="0" cy="3599013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2"/>
          <p:cNvSpPr txBox="1"/>
          <p:nvPr>
            <p:ph idx="3" type="body"/>
          </p:nvPr>
        </p:nvSpPr>
        <p:spPr>
          <a:xfrm>
            <a:off x="310162" y="148515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body"/>
          </p:nvPr>
        </p:nvSpPr>
        <p:spPr>
          <a:xfrm>
            <a:off x="310162" y="180834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body"/>
          </p:nvPr>
        </p:nvSpPr>
        <p:spPr>
          <a:xfrm>
            <a:off x="310162" y="235369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body"/>
          </p:nvPr>
        </p:nvSpPr>
        <p:spPr>
          <a:xfrm>
            <a:off x="310162" y="26768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body"/>
          </p:nvPr>
        </p:nvSpPr>
        <p:spPr>
          <a:xfrm>
            <a:off x="310162" y="3191895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body"/>
          </p:nvPr>
        </p:nvSpPr>
        <p:spPr>
          <a:xfrm>
            <a:off x="310162" y="35150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body"/>
          </p:nvPr>
        </p:nvSpPr>
        <p:spPr>
          <a:xfrm>
            <a:off x="309033" y="965872"/>
            <a:ext cx="529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00144D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">
  <p:cSld name="Metric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1" name="Google Shape;131;p1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2" name="Google Shape;132;p1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5" name="Google Shape;135;p13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37" name="Google Shape;137;p13"/>
          <p:cNvGrpSpPr/>
          <p:nvPr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138" name="Google Shape;138;p13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141" name="Google Shape;141;p13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144" name="Google Shape;144;p13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6" name="Google Shape;146;p13"/>
          <p:cNvGrpSpPr/>
          <p:nvPr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147" name="Google Shape;147;p13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150" name="Google Shape;150;p13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457201" y="1197944"/>
            <a:ext cx="2198254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3" name="Google Shape;153;p13"/>
          <p:cNvSpPr txBox="1"/>
          <p:nvPr>
            <p:ph idx="2" type="body"/>
          </p:nvPr>
        </p:nvSpPr>
        <p:spPr>
          <a:xfrm>
            <a:off x="457210" y="1775180"/>
            <a:ext cx="2198255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4" name="Google Shape;154;p13"/>
          <p:cNvSpPr txBox="1"/>
          <p:nvPr>
            <p:ph idx="3" type="body"/>
          </p:nvPr>
        </p:nvSpPr>
        <p:spPr>
          <a:xfrm>
            <a:off x="2746376" y="1197944"/>
            <a:ext cx="276225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5" name="Google Shape;155;p13"/>
          <p:cNvSpPr txBox="1"/>
          <p:nvPr>
            <p:ph idx="4" type="body"/>
          </p:nvPr>
        </p:nvSpPr>
        <p:spPr>
          <a:xfrm>
            <a:off x="2746378" y="1775180"/>
            <a:ext cx="276225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6" name="Google Shape;156;p13"/>
          <p:cNvSpPr txBox="1"/>
          <p:nvPr>
            <p:ph idx="5" type="body"/>
          </p:nvPr>
        </p:nvSpPr>
        <p:spPr>
          <a:xfrm>
            <a:off x="5611093" y="1197944"/>
            <a:ext cx="302808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7" name="Google Shape;157;p13"/>
          <p:cNvSpPr txBox="1"/>
          <p:nvPr>
            <p:ph idx="6" type="body"/>
          </p:nvPr>
        </p:nvSpPr>
        <p:spPr>
          <a:xfrm>
            <a:off x="5611099" y="1775180"/>
            <a:ext cx="30280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8" name="Google Shape;158;p13"/>
          <p:cNvSpPr txBox="1"/>
          <p:nvPr>
            <p:ph idx="7" type="body"/>
          </p:nvPr>
        </p:nvSpPr>
        <p:spPr>
          <a:xfrm>
            <a:off x="3582731" y="2283875"/>
            <a:ext cx="505644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9" name="Google Shape;159;p13"/>
          <p:cNvSpPr txBox="1"/>
          <p:nvPr>
            <p:ph idx="8" type="body"/>
          </p:nvPr>
        </p:nvSpPr>
        <p:spPr>
          <a:xfrm>
            <a:off x="3582730" y="2861109"/>
            <a:ext cx="5056446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0" name="Google Shape;160;p13"/>
          <p:cNvSpPr txBox="1"/>
          <p:nvPr>
            <p:ph idx="9" type="body"/>
          </p:nvPr>
        </p:nvSpPr>
        <p:spPr>
          <a:xfrm>
            <a:off x="457200" y="2283875"/>
            <a:ext cx="3035298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13"/>
          <p:cNvSpPr txBox="1"/>
          <p:nvPr>
            <p:ph idx="13" type="body"/>
          </p:nvPr>
        </p:nvSpPr>
        <p:spPr>
          <a:xfrm>
            <a:off x="457206" y="2861109"/>
            <a:ext cx="3035299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2" name="Google Shape;162;p13"/>
          <p:cNvSpPr txBox="1"/>
          <p:nvPr>
            <p:ph idx="14" type="body"/>
          </p:nvPr>
        </p:nvSpPr>
        <p:spPr>
          <a:xfrm>
            <a:off x="457201" y="3385708"/>
            <a:ext cx="818197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13"/>
          <p:cNvSpPr txBox="1"/>
          <p:nvPr>
            <p:ph idx="15" type="body"/>
          </p:nvPr>
        </p:nvSpPr>
        <p:spPr>
          <a:xfrm>
            <a:off x="457197" y="3962944"/>
            <a:ext cx="8181980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Venn Diagram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1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2" name="Google Shape;172;p1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310162" y="0"/>
            <a:ext cx="7986713" cy="70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15"/>
          <p:cNvSpPr txBox="1"/>
          <p:nvPr>
            <p:ph idx="2" type="body"/>
          </p:nvPr>
        </p:nvSpPr>
        <p:spPr>
          <a:xfrm>
            <a:off x="35697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15"/>
          <p:cNvSpPr txBox="1"/>
          <p:nvPr>
            <p:ph idx="3" type="body"/>
          </p:nvPr>
        </p:nvSpPr>
        <p:spPr>
          <a:xfrm>
            <a:off x="55382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6"/>
          <p:cNvSpPr/>
          <p:nvPr>
            <p:ph idx="2" type="pic"/>
          </p:nvPr>
        </p:nvSpPr>
        <p:spPr>
          <a:xfrm>
            <a:off x="-15075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6"/>
          <p:cNvSpPr/>
          <p:nvPr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85" name="Google Shape;185;p1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/>
          <p:nvPr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7"/>
          <p:cNvSpPr/>
          <p:nvPr>
            <p:ph idx="2" type="pic"/>
          </p:nvPr>
        </p:nvSpPr>
        <p:spPr>
          <a:xfrm>
            <a:off x="-14817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1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3" name="Google Shape;193;p17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94" name="Google Shape;194;p1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18"/>
          <p:cNvSpPr/>
          <p:nvPr>
            <p:ph idx="2" type="pic"/>
          </p:nvPr>
        </p:nvSpPr>
        <p:spPr>
          <a:xfrm>
            <a:off x="-25400" y="1011586"/>
            <a:ext cx="9186334" cy="4138319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465844" y="231435"/>
            <a:ext cx="8220956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3" name="Google Shape;203;p18"/>
          <p:cNvGrpSpPr/>
          <p:nvPr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204" name="Google Shape;204;p1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line-bluetext-colorshield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nvidia.com/cuda/cusparse/generic-api/generic-api-functions.html" TargetMode="External"/><Relationship Id="rId10" Type="http://schemas.openxmlformats.org/officeDocument/2006/relationships/hyperlink" Target="https://docs.nvidia.com/nvpl/latest/sparse/storage_format/sparse_matrix.html" TargetMode="External"/><Relationship Id="rId12" Type="http://schemas.openxmlformats.org/officeDocument/2006/relationships/hyperlink" Target="https://docs.nvidia.com/cuda/cusparse/generic-api/generic-api-functions.html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matteding.github.io/2019/04/25/sparse-matrices/" TargetMode="External"/><Relationship Id="rId4" Type="http://schemas.openxmlformats.org/officeDocument/2006/relationships/hyperlink" Target="https://matteding.github.io/2019/04/25/sparse-matrices/" TargetMode="External"/><Relationship Id="rId9" Type="http://schemas.openxmlformats.org/officeDocument/2006/relationships/hyperlink" Target="https://docs.nvidia.com/nvpl/latest/sparse/storage_format/sparse_matrix.html" TargetMode="External"/><Relationship Id="rId5" Type="http://schemas.openxmlformats.org/officeDocument/2006/relationships/hyperlink" Target="https://matteding.github.io/2019/04/25/sparse-matrices/" TargetMode="External"/><Relationship Id="rId6" Type="http://schemas.openxmlformats.org/officeDocument/2006/relationships/hyperlink" Target="https://developer.nvidia.com/blog/accelerating-inference-with-sparsity-using-ampere-and-tensorrt/" TargetMode="External"/><Relationship Id="rId7" Type="http://schemas.openxmlformats.org/officeDocument/2006/relationships/hyperlink" Target="https://developer.nvidia.com/blog/accelerating-inference-with-sparsity-using-ampere-and-tensorrt/" TargetMode="External"/><Relationship Id="rId8" Type="http://schemas.openxmlformats.org/officeDocument/2006/relationships/hyperlink" Target="https://docs.nvidia.com/nvpl/latest/sparse/storage_format/sparse_matrix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matteding.github.io/2019/04/25/sparse-matrices/" TargetMode="External"/><Relationship Id="rId4" Type="http://schemas.openxmlformats.org/officeDocument/2006/relationships/hyperlink" Target="https://docs.nvidia.com/nvpl/latest/sparse/storage_format/sparse_matri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4186"/>
              <a:buFont typeface="Gill Sans"/>
              <a:buNone/>
            </a:pPr>
            <a:r>
              <a:rPr lang="en-US" sz="3822"/>
              <a:t>Optimized CUDA Kernels for CSR sparse matrix multiplication  </a:t>
            </a:r>
            <a:r>
              <a:rPr lang="en-US"/>
              <a:t>	</a:t>
            </a:r>
            <a:br>
              <a:rPr lang="en-US" sz="2377"/>
            </a:br>
            <a:endParaRPr sz="23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51401"/>
              <a:buFont typeface="Gill Sans"/>
              <a:buNone/>
            </a:pPr>
            <a:r>
              <a:rPr lang="en-US" sz="2377"/>
              <a:t>CIS6010, Fall 2025</a:t>
            </a:r>
            <a:endParaRPr sz="2377"/>
          </a:p>
        </p:txBody>
      </p:sp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US"/>
              <a:t>Anh Tran, Aditya Agarwal, Rajath Ramana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US"/>
              <a:t>December 08,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Contents:</a:t>
            </a:r>
            <a:endParaRPr/>
          </a:p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Problem &amp; Motivation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Methods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Experimental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Implication &amp; 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spcBef>
                <a:spcPts val="48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CSR SPMM is important in many ML workloads [8] (Graph Neural Networks, Sparse Linear Layer).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Existing Libraries (Eg. cuSPARSE [2, 3], torch.sparse) don’t handle it very well.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Need custom SPMM kernels optimised for irregular patterns.</a:t>
            </a:r>
            <a:endParaRPr sz="2600"/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75" y="3441046"/>
            <a:ext cx="3180400" cy="12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485" y="3413859"/>
            <a:ext cx="4324516" cy="130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9565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CSR Format - Stores only non-zeroes using row_ptr, col_idx and values, this is good for unstructured sparsity.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29565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cuSPARSE - NVIDIA’s sparse lib, slow for irregular sparse patterns.</a:t>
            </a:r>
            <a:endParaRPr b="0" i="0" sz="2800" u="none" cap="none" strike="noStrike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29565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torch.sparse - Pytorch supports CSR format, relies on cuSPARSE, lacks custom kernel and speed.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29565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Research shows that irregular sparsities are common.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3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CSR Illustration</a:t>
            </a:r>
            <a:endParaRPr/>
          </a:p>
        </p:txBody>
      </p:sp>
      <p:sp>
        <p:nvSpPr>
          <p:cNvPr id="244" name="Google Shape;244;p23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CSR </a:t>
            </a:r>
            <a:r>
              <a:rPr lang="en-US"/>
              <a:t>[1] </a:t>
            </a:r>
            <a:r>
              <a:rPr lang="en-US"/>
              <a:t>stores non-zero values in</a:t>
            </a:r>
            <a:br>
              <a:rPr lang="en-US"/>
            </a:br>
            <a:r>
              <a:rPr lang="en-US">
                <a:highlight>
                  <a:srgbClr val="D7DADC"/>
                </a:highlight>
              </a:rPr>
              <a:t>values</a:t>
            </a:r>
            <a:r>
              <a:rPr lang="en-US"/>
              <a:t>, column position in </a:t>
            </a:r>
            <a:br>
              <a:rPr lang="en-US"/>
            </a:br>
            <a:r>
              <a:rPr lang="en-US">
                <a:highlight>
                  <a:srgbClr val="D7DADC"/>
                </a:highlight>
              </a:rPr>
              <a:t>col_idx</a:t>
            </a:r>
            <a:endParaRPr b="1">
              <a:highlight>
                <a:srgbClr val="D7DADC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highlight>
                  <a:srgbClr val="D7DADC"/>
                </a:highlight>
              </a:rPr>
              <a:t>row_ptr</a:t>
            </a:r>
            <a:r>
              <a:rPr lang="en-US"/>
              <a:t> marks where each </a:t>
            </a:r>
            <a:br>
              <a:rPr lang="en-US"/>
            </a:br>
            <a:r>
              <a:rPr lang="en-US"/>
              <a:t>non-zero value starts in a row.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DCSR - also has </a:t>
            </a:r>
            <a:r>
              <a:rPr lang="en-US">
                <a:highlight>
                  <a:srgbClr val="D7DADC"/>
                </a:highlight>
              </a:rPr>
              <a:t>row_idx</a:t>
            </a:r>
            <a:br>
              <a:rPr lang="en-US">
                <a:highlight>
                  <a:srgbClr val="D7DADC"/>
                </a:highlight>
              </a:rPr>
            </a:br>
            <a:r>
              <a:rPr lang="en-US"/>
              <a:t>which stores number of all </a:t>
            </a:r>
            <a:br>
              <a:rPr lang="en-US"/>
            </a:br>
            <a:r>
              <a:rPr lang="en-US"/>
              <a:t>non-zero rows.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 Case</a:t>
            </a:r>
            <a:r>
              <a:rPr lang="en-US"/>
              <a:t> - Matrices where</a:t>
            </a:r>
            <a:br>
              <a:rPr lang="en-US"/>
            </a:br>
            <a:r>
              <a:rPr lang="en-US"/>
              <a:t>a lot</a:t>
            </a:r>
            <a:r>
              <a:rPr lang="en-US"/>
              <a:t> of the rows are empty.</a:t>
            </a:r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673" y="1104900"/>
            <a:ext cx="3759077" cy="348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4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Contributions of this work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Highly optimized CUDA kernel, outperform     cuSPARSE.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Implemented naive, warp-per-row, shared-memory, and FP4 vectorized variants for irregular sparsity.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Python API, outperform torch.sparse.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Empirical Exp, analysis on performance.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Unified benchmarks to test and compare various implementations.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Methods 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457200" y="1016000"/>
            <a:ext cx="39867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Naive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Approach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Each thread is responsible for computing one output element  C[row,col] by taking a sparse row of A (CSR) and a full column of B.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The thread iterates over the nonzeros in its assigned row of A and accumulates products with the corresponding elements from B.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572000" y="1016000"/>
            <a:ext cx="39867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WarpPerRow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Approach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One warp handles one entire sparse row of A, improving locality and reducing redundant loads of that row’s nonzero elements.  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Each lane in the warp computes different output columns (lane, lane+32, lane+64, …), enabling parallel computation of the full row of C.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Methods 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457200" y="1016000"/>
            <a:ext cx="39867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Naive Approach 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572000" y="1016000"/>
            <a:ext cx="39867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WarpPerRow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Approach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13703" t="0"/>
          <a:stretch/>
        </p:blipFill>
        <p:spPr>
          <a:xfrm>
            <a:off x="508100" y="1435450"/>
            <a:ext cx="3302325" cy="13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363" y="1397575"/>
            <a:ext cx="3785976" cy="202684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508100" y="3492975"/>
            <a:ext cx="33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Workload for 1 thread is typically smaller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But loop length is arbitrary, hard to optimized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5139775" y="3638100"/>
            <a:ext cx="33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Workload for 1 thread is heavier (nested loops), but the </a:t>
            </a: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(outer) </a:t>
            </a: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loop length are predictable 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facilitate various optimization techniques: shared memory, packed load/store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368800" y="166800"/>
            <a:ext cx="22032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Analyze workload of threads via </a:t>
            </a:r>
            <a:r>
              <a:rPr b="1" lang="en-US" sz="1700">
                <a:latin typeface="Gill Sans"/>
                <a:ea typeface="Gill Sans"/>
                <a:cs typeface="Gill Sans"/>
                <a:sym typeface="Gill Sans"/>
              </a:rPr>
              <a:t>main loop</a:t>
            </a:r>
            <a:endParaRPr b="1" sz="1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257450" y="105350"/>
            <a:ext cx="30894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A[M, N] x B[N, K] =&gt; C[M, K] </a:t>
            </a:r>
            <a:endParaRPr b="1" sz="17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7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Methods 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352050" y="1016000"/>
            <a:ext cx="4172700" cy="3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Optimization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strategies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Threads can cooperatively load A into sharedmem 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reduce global mem traffic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Packed load/store: CUDA cores allow load/store a pack of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4x float32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can be applied for B and C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vectorize memory accesses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reduce complexity of outer loop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27"/>
          <p:cNvSpPr txBox="1"/>
          <p:nvPr/>
        </p:nvSpPr>
        <p:spPr>
          <a:xfrm>
            <a:off x="4572000" y="1016000"/>
            <a:ext cx="39867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WarpPerRow </a:t>
            </a:r>
            <a:r>
              <a:rPr b="1"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Approach</a:t>
            </a:r>
            <a:endParaRPr b="1"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363" y="1397575"/>
            <a:ext cx="3785976" cy="202684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/>
          <p:nvPr/>
        </p:nvSpPr>
        <p:spPr>
          <a:xfrm>
            <a:off x="4380933" y="1246924"/>
            <a:ext cx="4314000" cy="641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257450" y="105350"/>
            <a:ext cx="30894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A[M, N] x B[N, K] =&gt; C[M, K] </a:t>
            </a:r>
            <a:endParaRPr b="1" sz="17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8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Experiment &amp; Analysis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4572000" y="1016000"/>
            <a:ext cx="40014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Kernels</a:t>
            </a:r>
            <a:r>
              <a:rPr b="1"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- 5 variants</a:t>
            </a:r>
            <a:endParaRPr b="1"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Gill Sans"/>
              <a:buChar char="-"/>
            </a:pPr>
            <a:r>
              <a:rPr lang="en-US" sz="2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naive </a:t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Gill Sans"/>
              <a:buChar char="-"/>
            </a:pPr>
            <a:r>
              <a:rPr lang="en-US" sz="2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warp per row (wpr)</a:t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Gill Sans"/>
              <a:buChar char="-"/>
            </a:pPr>
            <a:r>
              <a:rPr lang="en-US" sz="2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wrp + sharedmem</a:t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Gill Sans"/>
              <a:buChar char="-"/>
            </a:pPr>
            <a:r>
              <a:rPr lang="en-US" sz="2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wrp + fp4 (vectorized load/store 4x float32)</a:t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Gill Sans"/>
              <a:buChar char="-"/>
            </a:pPr>
            <a:r>
              <a:rPr lang="en-US" sz="2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wrp + sharedmem + fp4</a:t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Hardware</a:t>
            </a:r>
            <a:r>
              <a:rPr lang="en-US" sz="19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: Nvidia GeForce RTX4070</a:t>
            </a:r>
            <a:r>
              <a:rPr lang="en-US" sz="2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457200" y="1016000"/>
            <a:ext cx="40014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Experiment Setup:</a:t>
            </a:r>
            <a:endParaRPr b="1"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Matrix sizes tested: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472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Gill Sans"/>
              <a:buChar char="●"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small = (512, 1024, 64)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47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Gill Sans"/>
              <a:buChar char="●"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medium = (1024, 2048, 128)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47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Gill Sans"/>
              <a:buChar char="●"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large = (4096, 4096, 128)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47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Gill Sans"/>
              <a:buChar char="●"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XL = (8192, 4096, 256)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Densities: 0.01 ~ 0.30 (sprasity 0.99 ~ 0.70)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These are </a:t>
            </a:r>
            <a:r>
              <a:rPr b="1"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typical sizes and sparsities</a:t>
            </a:r>
            <a:r>
              <a:rPr lang="en-US" sz="1966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in Linear Layers or GNNs [5,  6, 7].</a:t>
            </a:r>
            <a:endParaRPr sz="1966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29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Performance vs cuSPARSE</a:t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4" y="953436"/>
            <a:ext cx="2928911" cy="17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671" y="953425"/>
            <a:ext cx="2928911" cy="175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677" y="2711065"/>
            <a:ext cx="2883272" cy="173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5671" y="2711063"/>
            <a:ext cx="2928911" cy="175763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5934575" y="1297125"/>
            <a:ext cx="3003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FF0000"/>
                </a:solidFill>
              </a:rPr>
              <a:t>WarpPerRowFp4</a:t>
            </a:r>
            <a:r>
              <a:rPr lang="en-US" sz="1100"/>
              <a:t> is consistently the top performer, with </a:t>
            </a:r>
            <a:r>
              <a:rPr b="1" lang="en-US" sz="1100">
                <a:solidFill>
                  <a:srgbClr val="9900FF"/>
                </a:solidFill>
              </a:rPr>
              <a:t>WarpPerRowSmemFp4</a:t>
            </a:r>
            <a:r>
              <a:rPr lang="en-US" sz="1100"/>
              <a:t> is comparable on very small or very large matrices multiplication.</a:t>
            </a:r>
            <a:br>
              <a:rPr lang="en-US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Performance improvement widen with matrix size -&gt; showing the kernels scale well.</a:t>
            </a:r>
            <a:br>
              <a:rPr lang="en-US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Our kernels dominate </a:t>
            </a:r>
            <a:r>
              <a:rPr lang="en-US" sz="1100"/>
              <a:t>even</a:t>
            </a:r>
            <a:r>
              <a:rPr lang="en-US" sz="1100"/>
              <a:t> at high densities -&gt; the kernels can handle a wide sparsity range efficiently.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/>
              <a:t>Note</a:t>
            </a:r>
            <a:r>
              <a:rPr lang="en-US" sz="1100"/>
              <a:t>: baseline denoted by </a:t>
            </a:r>
            <a:r>
              <a:rPr b="1" lang="en-US" sz="1100"/>
              <a:t>bold, dark lines</a:t>
            </a:r>
            <a:r>
              <a:rPr lang="en-US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30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Performance vs torch.sparse</a:t>
            </a:r>
            <a:endParaRPr/>
          </a:p>
        </p:txBody>
      </p:sp>
      <p:graphicFrame>
        <p:nvGraphicFramePr>
          <p:cNvPr id="311" name="Google Shape;311;p30"/>
          <p:cNvGraphicFramePr/>
          <p:nvPr/>
        </p:nvGraphicFramePr>
        <p:xfrm>
          <a:off x="4972600" y="916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443300"/>
                <a:gridCol w="1075225"/>
                <a:gridCol w="968650"/>
              </a:tblGrid>
              <a:tr h="38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Algorithm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mean GFLOPS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mean speedup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WarpPerRowSmemFp4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479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2.297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WarpPerRowFp4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466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2.267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torch sparse addmm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347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1.547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WarpPerRowSmem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1.702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Naive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1.633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1.553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torch sparse mm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240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1.000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2" name="Google Shape;312;p30"/>
          <p:cNvGraphicFramePr/>
          <p:nvPr/>
        </p:nvGraphicFramePr>
        <p:xfrm>
          <a:off x="523225" y="10690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485900"/>
                <a:gridCol w="952500"/>
                <a:gridCol w="952500"/>
              </a:tblGrid>
              <a:tr h="38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Algorithm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mean GFLOPS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mean speedup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WarpPerRowFp4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1.483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WarpPerRowSmemFp4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1.294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Naive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531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1.161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WarpPerRowSmem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1.134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cuSPARSE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488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 u="sng"/>
                        <a:t>1.000</a:t>
                      </a:r>
                      <a:endParaRPr i="1" sz="1000" u="sng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WarpPerRow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444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</a:t>
                      </a:r>
                      <a:r>
                        <a:rPr lang="en-US" sz="1000"/>
                        <a:t>964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3" name="Google Shape;313;p30"/>
          <p:cNvSpPr txBox="1"/>
          <p:nvPr/>
        </p:nvSpPr>
        <p:spPr>
          <a:xfrm>
            <a:off x="1029875" y="2809600"/>
            <a:ext cx="224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Our kernels vs cuSPARSE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5592838" y="2954225"/>
            <a:ext cx="224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Our Python APIs vs</a:t>
            </a: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torch.sparse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794000" y="3478450"/>
            <a:ext cx="4508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Our kernels outperform existing libraries: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-US" sz="1300"/>
              <a:t>1.48× faster</a:t>
            </a:r>
            <a:r>
              <a:rPr lang="en-US" sz="1300"/>
              <a:t> than cuSPARSE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-US" sz="1300"/>
              <a:t>1.38× faster</a:t>
            </a:r>
            <a:r>
              <a:rPr lang="en-US" sz="1300"/>
              <a:t> than torch.sparse.addmm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-US" sz="1300"/>
              <a:t>2.30× faster</a:t>
            </a:r>
            <a:r>
              <a:rPr lang="en-US" sz="1300"/>
              <a:t> than torch.sparse.mm</a:t>
            </a:r>
            <a:endParaRPr sz="3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Breakdown of Performance Factors</a:t>
            </a:r>
            <a:endParaRPr/>
          </a:p>
        </p:txBody>
      </p:sp>
      <p:graphicFrame>
        <p:nvGraphicFramePr>
          <p:cNvPr id="322" name="Google Shape;322;p31"/>
          <p:cNvGraphicFramePr/>
          <p:nvPr/>
        </p:nvGraphicFramePr>
        <p:xfrm>
          <a:off x="310225" y="10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526975"/>
                <a:gridCol w="784325"/>
                <a:gridCol w="712400"/>
                <a:gridCol w="790550"/>
                <a:gridCol w="728375"/>
                <a:gridCol w="951325"/>
              </a:tblGrid>
              <a:tr h="29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Metric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naive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GFLOPS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273.39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255.77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278.31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320.44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303.36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Throughput (% peak)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Bandwidth (GB/s)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12.55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13.10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L1/TEX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73.78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33.04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2.95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18.68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L2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97.12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98.82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 Pipes Busy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24.63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19.34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Coalescing Efficiency ( / 32)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28.9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Warp Cycles / Instruction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29.02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29.98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16.12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68.66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52.07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Achieved Occupancy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63.54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91.68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46.84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77.57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Active Warps per SM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30.50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44.0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22.48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37.23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22.53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IPC (inst / cycle)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1.05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1.47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Total Instructions Executed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178,205,120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267,000,000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243,099,537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88,314,836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76,548,614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31"/>
          <p:cNvSpPr txBox="1"/>
          <p:nvPr/>
        </p:nvSpPr>
        <p:spPr>
          <a:xfrm>
            <a:off x="310150" y="4345000"/>
            <a:ext cx="5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Profiling data. Size [8192 x 4096 x 256]. Density 0.1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6174525" y="933590"/>
            <a:ext cx="1759500" cy="5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Better coalescing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5941825" y="1653482"/>
            <a:ext cx="29955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b="1"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Shared memory</a:t>
            </a: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allows us to restructure the matrix layout and </a:t>
            </a: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access</a:t>
            </a: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pattern, to fit the warps better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Coalescing efficiency improved significantly with shared mem 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32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Breakdown of Performance Factors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332" name="Google Shape;332;p32"/>
          <p:cNvGraphicFramePr/>
          <p:nvPr/>
        </p:nvGraphicFramePr>
        <p:xfrm>
          <a:off x="310225" y="10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526975"/>
                <a:gridCol w="784325"/>
                <a:gridCol w="712400"/>
                <a:gridCol w="790550"/>
                <a:gridCol w="728375"/>
                <a:gridCol w="951325"/>
              </a:tblGrid>
              <a:tr h="29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Metric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naive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GFLOPS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273.39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255.77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278.31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320.44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303.36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Throughput (% peak)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Bandwidth (GB/s)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12.55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13.10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L1/TEX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73.78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33.04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2.95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18.68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L2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97.12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98.82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 Pipes Busy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24.63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19.34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29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Coalescing Efficiency ( / 32)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28.9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Warp Cycles / Instruction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29.02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29.98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16.12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68.66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52.07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Achieved Occupancy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63.54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91.68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46.84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77.57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Active Warps per SM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30.50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44.0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22.48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37.23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22.53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IPC (inst / cycle)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1.05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1.47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Total Instructions Executed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178,205,120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267,000,000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243,099,537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88,314,836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76,548,614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32"/>
          <p:cNvSpPr txBox="1"/>
          <p:nvPr/>
        </p:nvSpPr>
        <p:spPr>
          <a:xfrm>
            <a:off x="310150" y="4345000"/>
            <a:ext cx="5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Profiling data. Size [8192 x 4096 x 256]. Density 0.1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5941825" y="1653482"/>
            <a:ext cx="2995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Naive/WPR are ~94% (heavily memory-bound). Shared-memory cuts this to ~77%, and FP4 variants drop to ~20–25%, a 4-5x reduction in memory load.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FP4 packing + shared-memory reuse move the kernel from memory-bound to compute-bound.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6174525" y="948132"/>
            <a:ext cx="1919700" cy="60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Reduce pressure on memory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/>
          <p:nvPr/>
        </p:nvSpPr>
        <p:spPr>
          <a:xfrm>
            <a:off x="5927300" y="1671675"/>
            <a:ext cx="29955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SMEM slightly reduce # of  instructions to 243M and 76M 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(fewer global-access insns)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Gill Sans"/>
              <a:buChar char="●"/>
            </a:pP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FP4 packing lowers total instructions from 178M (naive) to 88M and 76M (FP4 variants) (</a:t>
            </a:r>
            <a:r>
              <a:rPr b="1"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more aggressive; </a:t>
            </a:r>
            <a:endParaRPr b="1"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basically, we shorten the loop</a:t>
            </a:r>
            <a:r>
              <a:rPr lang="en-US" sz="13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13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1" name="Google Shape;341;p33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33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Breakdown of Performance Factors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343" name="Google Shape;343;p33"/>
          <p:cNvGraphicFramePr/>
          <p:nvPr/>
        </p:nvGraphicFramePr>
        <p:xfrm>
          <a:off x="310225" y="10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526975"/>
                <a:gridCol w="784325"/>
                <a:gridCol w="712400"/>
                <a:gridCol w="790550"/>
                <a:gridCol w="728375"/>
                <a:gridCol w="951325"/>
              </a:tblGrid>
              <a:tr h="29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Metric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naive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GFLOPS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273.39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255.77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278.31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320.44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303.36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Throughput (% peak)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Bandwidth (GB/s)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12.55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13.10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L1/TEX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73.78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33.04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2.95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18.68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L2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97.12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98.82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 Pipes Busy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24.63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19.34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Coalescing Efficiency ( / 32)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28.9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Warp Cycles / Instruction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29.02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29.98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16.12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68.66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52.07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Achieved Occupancy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63.54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91.68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46.84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77.57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Active Warps per SM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30.50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44.0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22.48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37.23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22.53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IPC (inst / cycle)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1.05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1.47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Total Instructions Executed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178,205,120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267,000,000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243,099,537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88,314,836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76,548,614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33"/>
          <p:cNvSpPr txBox="1"/>
          <p:nvPr/>
        </p:nvSpPr>
        <p:spPr>
          <a:xfrm>
            <a:off x="310150" y="4345000"/>
            <a:ext cx="5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Profiling data. Size [8192 x 4096 x 256]. Density 0.1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6247250" y="950375"/>
            <a:ext cx="1716000" cy="48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Fewer instructions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Breakdown of Performance Factors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352" name="Google Shape;352;p34"/>
          <p:cNvGraphicFramePr/>
          <p:nvPr/>
        </p:nvGraphicFramePr>
        <p:xfrm>
          <a:off x="310225" y="10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{D681678D-FBA7-418A-AD46-390E0FA3FDB1}</a:tableStyleId>
              </a:tblPr>
              <a:tblGrid>
                <a:gridCol w="1526975"/>
                <a:gridCol w="784325"/>
                <a:gridCol w="712400"/>
                <a:gridCol w="790550"/>
                <a:gridCol w="728375"/>
                <a:gridCol w="951325"/>
              </a:tblGrid>
              <a:tr h="29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Metric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naive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wpr_smem_fp4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GFLOPS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273.39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255.77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278.31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320.44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303.36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Throughput (% peak)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Memory Bandwidth (GB/s)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12.55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12.10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13.10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11.93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L1/TEX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73.78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33.04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2.95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18.68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3.77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L2 Hit Rate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97.12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98.93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98.82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98.76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Mem Pipes Busy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94.72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86.41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24.63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19.34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Coalescing Efficiency ( / 32)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28.9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31.9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Warp Cycles / Instruction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29.02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29.98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16.12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68.66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52.07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Achieved Occupancy (%)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63.54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91.68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46.84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77.57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46.94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Active Warps per SM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30.50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44.0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22.48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37.23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22.53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IPC (inst / cycle)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1.05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1.47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1.39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0.54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0.43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Total Instructions Executed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178,205,120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267,000,000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243,099,537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88,314,836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76,548,614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3" name="Google Shape;353;p34"/>
          <p:cNvSpPr txBox="1"/>
          <p:nvPr/>
        </p:nvSpPr>
        <p:spPr>
          <a:xfrm>
            <a:off x="310150" y="4345000"/>
            <a:ext cx="5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Profiling data. Size [8192 x 4096 x 256]. Density 0.1</a:t>
            </a:r>
            <a:endParaRPr i="1" sz="1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978075" y="961800"/>
            <a:ext cx="2791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One things that we are not (yet) able to fully explain is </a:t>
            </a:r>
            <a:r>
              <a:rPr lang="en-US" sz="12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cache hit rates</a:t>
            </a: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Share mem + vectorized load/store (Fp4) has low hit rates but, somehow, higher throughput.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Our hypothesis</a:t>
            </a: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ill Sans"/>
              <a:buChar char="-"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many threads in naive kernel loads the same cols/rows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more frequent accesses 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explain higher rates 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=&gt; naive kernels might not benefit a lot from this 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ill Sans"/>
              <a:buChar char="-"/>
            </a:pPr>
            <a:r>
              <a:rPr lang="en-US" sz="12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significantly lower Memory pipe busy and total instructions of smem and fp4 compensate the poor cache rates.</a:t>
            </a:r>
            <a:endParaRPr sz="12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35"/>
          <p:cNvSpPr txBox="1"/>
          <p:nvPr>
            <p:ph type="title"/>
          </p:nvPr>
        </p:nvSpPr>
        <p:spPr>
          <a:xfrm>
            <a:off x="310152" y="0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2800"/>
              <a:buFont typeface="Gill Sans"/>
              <a:buNone/>
            </a:pPr>
            <a:r>
              <a:rPr lang="en-US" sz="2800"/>
              <a:t>Conclusions</a:t>
            </a:r>
            <a:endParaRPr sz="2800"/>
          </a:p>
        </p:txBody>
      </p:sp>
      <p:sp>
        <p:nvSpPr>
          <p:cNvPr id="361" name="Google Shape;361;p35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11785" lvl="0" marL="342900" marR="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Developed a clean, modular CSR-SpMM library with multiple CUDA kernel variants.</a:t>
            </a:r>
            <a:endParaRPr sz="20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785" lvl="0" marL="342900" marR="0" rtl="0" algn="l">
              <a:spcBef>
                <a:spcPts val="518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•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Warp-optimized kernels </a:t>
            </a:r>
            <a:r>
              <a:rPr b="1"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outperform cuSPARSE and PyTorch sparse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on many sparsity regimes.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785" lvl="0" marL="342900" marR="0" rtl="0" algn="l">
              <a:spcBef>
                <a:spcPts val="518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•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Provided a simple PyTorch API and benchmarking tools for easy evaluation and extension.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1785" lvl="0" marL="342900" marR="0" rtl="0" algn="l">
              <a:spcBef>
                <a:spcPts val="518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•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Demonstrated clear performance trade-offs and a solid foundation for future kernel research.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36"/>
          <p:cNvSpPr txBox="1"/>
          <p:nvPr>
            <p:ph type="title"/>
          </p:nvPr>
        </p:nvSpPr>
        <p:spPr>
          <a:xfrm>
            <a:off x="310152" y="0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2800"/>
              <a:buFont typeface="Gill Sans"/>
              <a:buNone/>
            </a:pPr>
            <a:r>
              <a:rPr lang="en-US" sz="2800"/>
              <a:t>Shortcomings and Future Scope </a:t>
            </a:r>
            <a:endParaRPr sz="2800"/>
          </a:p>
        </p:txBody>
      </p:sp>
      <p:sp>
        <p:nvSpPr>
          <p:cNvPr id="368" name="Google Shape;368;p36"/>
          <p:cNvSpPr txBox="1"/>
          <p:nvPr/>
        </p:nvSpPr>
        <p:spPr>
          <a:xfrm>
            <a:off x="457199" y="1016001"/>
            <a:ext cx="7890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1950" lvl="0" marL="45720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-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Limitations: </a:t>
            </a:r>
            <a:b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-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Handles general CSR matrices but does not yet optimize for extreme irregular sparsity patterns.</a:t>
            </a:r>
            <a:b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-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Dynamic warp scheduling was explored but not fully integrated or validated.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61950" lvl="0" marL="45720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-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Future scope: </a:t>
            </a:r>
            <a:b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Gill Sans"/>
              <a:buChar char="-"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Add advanced performance features (streaming, better tiling, load balancing) and broaden Python/CUDA interfaces for more sparsity formats and end-to-end use.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37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Work Distribution</a:t>
            </a:r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457199" y="1016001"/>
            <a:ext cx="7890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Anh: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Developed 5 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kernels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, debugged and integrated Python APIs, designed benchmarks/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experiments, analyzed results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Aditya &amp; Rajath: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Implemented the PyTorch integration stack/interface and contributed to developing the naïve shared-memory kernel. 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All team members:</a:t>
            </a:r>
            <a:r>
              <a:rPr lang="en-US" sz="21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Collaborated on benchmarking, verification, and end-to-end system integration, comparing the custom CSR-SpMM kernels with PyTorch’s sparse operations.</a:t>
            </a:r>
            <a:endParaRPr sz="21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38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82" name="Google Shape;382;p38"/>
          <p:cNvSpPr txBox="1"/>
          <p:nvPr/>
        </p:nvSpPr>
        <p:spPr>
          <a:xfrm>
            <a:off x="457199" y="1016001"/>
            <a:ext cx="7890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[1]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Matt Eding, </a:t>
            </a:r>
            <a:r>
              <a:rPr i="1"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“Sparse Matrices”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— a comprehensive overview of sparse-matrix data structures and formats (COO, CSR/CSC, DOK, LIL, BSR, DIA), with pros/cons for each.</a:t>
            </a:r>
            <a:r>
              <a:rPr lang="en-US">
                <a:solidFill>
                  <a:schemeClr val="accent6"/>
                </a:solidFill>
                <a:uFill>
                  <a:noFill/>
                </a:u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matteding.github.io</a:t>
            </a:r>
            <a:b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u="sng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[2]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NVIDIA Developer Blog: </a:t>
            </a:r>
            <a:r>
              <a:rPr i="1"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“Accelerating Inference with Sparsity Using the NVIDIA Ampere Architecture and NVIDIA TensorRT”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— describes how TensorRT 8.0 + Ampere-GPU Sparse Tensor Cores leverage 2:4 structured sparsity for ~50% zeros and deliver large performance and efficiency gains for neural-network inference.</a:t>
            </a:r>
            <a:r>
              <a:rPr lang="en-US">
                <a:solidFill>
                  <a:schemeClr val="accent6"/>
                </a:solidFill>
                <a:uFill>
                  <a:noFill/>
                </a:uFill>
                <a:latin typeface="Gill Sans"/>
                <a:ea typeface="Gill Sans"/>
                <a:cs typeface="Gill Sans"/>
                <a:sym typeface="Gill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 Developer</a:t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[3]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NVPL SPARSE documentation: “Sparse Matrix Formats” — outlines storage formats (COO, CSR, CSC, etc.) supported by NVPL, with detailed definitions of how sparse matrices are represented in memory.</a:t>
            </a:r>
            <a:r>
              <a:rPr lang="en-US">
                <a:solidFill>
                  <a:schemeClr val="accent6"/>
                </a:solidFill>
                <a:uFill>
                  <a:noFill/>
                </a:uFill>
                <a:latin typeface="Gill Sans"/>
                <a:ea typeface="Gill Sans"/>
                <a:cs typeface="Gill Sans"/>
                <a:sym typeface="Gill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 Docs</a:t>
            </a:r>
            <a:b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u="sng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[4] cuSPARSE Generic API documentation — reference guide for generic sparse-matrix operations under NVIDIA’s CUDA ecosystem.</a:t>
            </a:r>
            <a:r>
              <a:rPr lang="en-US">
                <a:solidFill>
                  <a:schemeClr val="accent6"/>
                </a:solidFill>
                <a:uFill>
                  <a:noFill/>
                </a:uFill>
                <a:latin typeface="Gill Sans"/>
                <a:ea typeface="Gill Sans"/>
                <a:cs typeface="Gill Sans"/>
                <a:sym typeface="Gill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 Docs</a:t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9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39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89" name="Google Shape;389;p39"/>
          <p:cNvSpPr txBox="1"/>
          <p:nvPr/>
        </p:nvSpPr>
        <p:spPr>
          <a:xfrm>
            <a:off x="457199" y="1016001"/>
            <a:ext cx="7890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[5]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Jonathan Frankle and Michael Carbin, The Lottery Ticket Hypothesis: Finding Sparse, Trainable Neural Networks, published at ICLR 2019.</a:t>
            </a:r>
            <a:b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u="sng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[6]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Victor Sanh, Thomas Wolf, and Alexander M. Rush, Movement Pruning: Adaptive Sparsity by Fine-Tuning,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published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at NeurIPS 2020.</a:t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[7] </a:t>
            </a: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Tianlong Chen, Yongduo Sui, Xuxi Chen, Aston Zhang, and Zhangyang Wang, A Unified Lottery Ticket Hypothesis for Graph Neural Networks, published at ICML 2021.</a:t>
            </a:r>
            <a:br>
              <a:rPr lang="en-US" u="sng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u="sng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[8] Tasou, I., Mpakos, P., Vichos, A., et al. Sparse Computations in Deep Learning Inference. arXiv:2512.02550, 2025.</a:t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3">
      <a:dk1>
        <a:srgbClr val="00144D"/>
      </a:dk1>
      <a:lt1>
        <a:srgbClr val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